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9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92425F-E408-757A-B675-DD62DA9507A2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alphaModFix amt="20000"/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CC95-03A3-CBCF-D010-686BF2725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00785"/>
            <a:ext cx="12192000" cy="2509213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Agency FB" panose="020B0503020202020204" pitchFamily="34" charset="0"/>
              </a:rPr>
              <a:t>MODULE : COMPUTER FUNDAMENTALS</a:t>
            </a:r>
          </a:p>
        </p:txBody>
      </p:sp>
    </p:spTree>
    <p:extLst>
      <p:ext uri="{BB962C8B-B14F-4D97-AF65-F5344CB8AC3E}">
        <p14:creationId xmlns:p14="http://schemas.microsoft.com/office/powerpoint/2010/main" val="3798673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362B-F04C-6634-4FB5-BC829F7BB71F}"/>
              </a:ext>
            </a:extLst>
          </p:cNvPr>
          <p:cNvSpPr txBox="1">
            <a:spLocks/>
          </p:cNvSpPr>
          <p:nvPr/>
        </p:nvSpPr>
        <p:spPr>
          <a:xfrm>
            <a:off x="1751012" y="1300785"/>
            <a:ext cx="8689976" cy="250921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latin typeface="Agency FB" panose="020B0503020202020204" pitchFamily="34" charset="0"/>
              </a:rPr>
              <a:t>Week 1 : Introduction to Computing</a:t>
            </a:r>
          </a:p>
        </p:txBody>
      </p:sp>
    </p:spTree>
    <p:extLst>
      <p:ext uri="{BB962C8B-B14F-4D97-AF65-F5344CB8AC3E}">
        <p14:creationId xmlns:p14="http://schemas.microsoft.com/office/powerpoint/2010/main" val="297602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6F5FC4-4A12-E4CE-DD1B-210A0A3901F5}"/>
              </a:ext>
            </a:extLst>
          </p:cNvPr>
          <p:cNvSpPr txBox="1"/>
          <p:nvPr/>
        </p:nvSpPr>
        <p:spPr>
          <a:xfrm>
            <a:off x="585216" y="219456"/>
            <a:ext cx="11256264" cy="5932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🎯 Learning Objectives</a:t>
            </a:r>
          </a:p>
          <a:p>
            <a:pPr>
              <a:buNone/>
            </a:pPr>
            <a:endParaRPr lang="en-GB" sz="2400" b="1" dirty="0"/>
          </a:p>
          <a:p>
            <a:pPr>
              <a:lnSpc>
                <a:spcPct val="150000"/>
              </a:lnSpc>
              <a:buNone/>
            </a:pPr>
            <a:r>
              <a:rPr lang="en-GB" sz="2800" dirty="0">
                <a:latin typeface="Aptos Display" panose="020B0004020202020204" pitchFamily="34" charset="0"/>
              </a:rPr>
              <a:t>By the end of this lesson, students should be able to: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Aptos Display" panose="020B0004020202020204" pitchFamily="34" charset="0"/>
              </a:rPr>
              <a:t>Define what a computer is and explain its basic functions.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Aptos Display" panose="020B0004020202020204" pitchFamily="34" charset="0"/>
              </a:rPr>
              <a:t>Identify and describe the major </a:t>
            </a:r>
            <a:r>
              <a:rPr lang="en-GB" sz="2800" b="1" dirty="0">
                <a:latin typeface="Aptos Display" panose="020B0004020202020204" pitchFamily="34" charset="0"/>
              </a:rPr>
              <a:t>types</a:t>
            </a:r>
            <a:r>
              <a:rPr lang="en-GB" sz="2800" dirty="0">
                <a:latin typeface="Aptos Display" panose="020B0004020202020204" pitchFamily="34" charset="0"/>
              </a:rPr>
              <a:t> and </a:t>
            </a:r>
            <a:r>
              <a:rPr lang="en-GB" sz="2800" b="1" dirty="0">
                <a:latin typeface="Aptos Display" panose="020B0004020202020204" pitchFamily="34" charset="0"/>
              </a:rPr>
              <a:t>characteristics</a:t>
            </a:r>
            <a:r>
              <a:rPr lang="en-GB" sz="2800" dirty="0">
                <a:latin typeface="Aptos Display" panose="020B0004020202020204" pitchFamily="34" charset="0"/>
              </a:rPr>
              <a:t> of computers.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Aptos Display" panose="020B0004020202020204" pitchFamily="34" charset="0"/>
              </a:rPr>
              <a:t>Explain the </a:t>
            </a:r>
            <a:r>
              <a:rPr lang="en-GB" sz="2800" b="1" dirty="0">
                <a:latin typeface="Aptos Display" panose="020B0004020202020204" pitchFamily="34" charset="0"/>
              </a:rPr>
              <a:t>generations of computers</a:t>
            </a:r>
            <a:r>
              <a:rPr lang="en-GB" sz="2800" dirty="0">
                <a:latin typeface="Aptos Display" panose="020B0004020202020204" pitchFamily="34" charset="0"/>
              </a:rPr>
              <a:t> and their evolution.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Aptos Display" panose="020B0004020202020204" pitchFamily="34" charset="0"/>
              </a:rPr>
              <a:t>Distinguish between </a:t>
            </a:r>
            <a:r>
              <a:rPr lang="en-GB" sz="2800" b="1" dirty="0">
                <a:latin typeface="Aptos Display" panose="020B0004020202020204" pitchFamily="34" charset="0"/>
              </a:rPr>
              <a:t>hardware</a:t>
            </a:r>
            <a:r>
              <a:rPr lang="en-GB" sz="2800" dirty="0">
                <a:latin typeface="Aptos Display" panose="020B0004020202020204" pitchFamily="34" charset="0"/>
              </a:rPr>
              <a:t>, </a:t>
            </a:r>
            <a:r>
              <a:rPr lang="en-GB" sz="2800" b="1" dirty="0">
                <a:latin typeface="Aptos Display" panose="020B0004020202020204" pitchFamily="34" charset="0"/>
              </a:rPr>
              <a:t>software</a:t>
            </a:r>
            <a:r>
              <a:rPr lang="en-GB" sz="2800" dirty="0">
                <a:latin typeface="Aptos Display" panose="020B0004020202020204" pitchFamily="34" charset="0"/>
              </a:rPr>
              <a:t>, and </a:t>
            </a:r>
            <a:r>
              <a:rPr lang="en-GB" sz="2800" b="1" dirty="0">
                <a:latin typeface="Aptos Display" panose="020B0004020202020204" pitchFamily="34" charset="0"/>
              </a:rPr>
              <a:t>firmware</a:t>
            </a:r>
            <a:r>
              <a:rPr lang="en-GB" sz="2800" dirty="0">
                <a:latin typeface="Aptos Display" panose="020B0004020202020204" pitchFamily="34" charset="0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Aptos Display" panose="020B0004020202020204" pitchFamily="34" charset="0"/>
              </a:rPr>
              <a:t>Identify key components of a PC and describe their functions.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Aptos Display" panose="020B0004020202020204" pitchFamily="34" charset="0"/>
              </a:rPr>
              <a:t>Produce a short documentation report describing a computer system and its components.</a:t>
            </a:r>
          </a:p>
        </p:txBody>
      </p:sp>
    </p:spTree>
    <p:extLst>
      <p:ext uri="{BB962C8B-B14F-4D97-AF65-F5344CB8AC3E}">
        <p14:creationId xmlns:p14="http://schemas.microsoft.com/office/powerpoint/2010/main" val="368642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E53BD5-A38F-B30D-5A00-159752A943E1}"/>
              </a:ext>
            </a:extLst>
          </p:cNvPr>
          <p:cNvSpPr txBox="1"/>
          <p:nvPr/>
        </p:nvSpPr>
        <p:spPr>
          <a:xfrm>
            <a:off x="740664" y="859536"/>
            <a:ext cx="11183112" cy="4554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800" b="1" dirty="0">
                <a:latin typeface="Aptos Display" panose="020B0004020202020204" pitchFamily="34" charset="0"/>
              </a:rPr>
              <a:t>1️⃣ What is a Computer?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>
                <a:latin typeface="Aptos Display" panose="020B0004020202020204" pitchFamily="34" charset="0"/>
              </a:rPr>
              <a:t>A </a:t>
            </a:r>
            <a:r>
              <a:rPr lang="en-GB" sz="2800" b="1" dirty="0">
                <a:latin typeface="Aptos Display" panose="020B0004020202020204" pitchFamily="34" charset="0"/>
              </a:rPr>
              <a:t>computer</a:t>
            </a:r>
            <a:r>
              <a:rPr lang="en-GB" sz="2800" dirty="0">
                <a:latin typeface="Aptos Display" panose="020B0004020202020204" pitchFamily="34" charset="0"/>
              </a:rPr>
              <a:t> is an </a:t>
            </a:r>
            <a:r>
              <a:rPr lang="en-GB" sz="2800" b="1" dirty="0">
                <a:latin typeface="Aptos Display" panose="020B0004020202020204" pitchFamily="34" charset="0"/>
              </a:rPr>
              <a:t>electronic device</a:t>
            </a:r>
            <a:r>
              <a:rPr lang="en-GB" sz="2800" dirty="0">
                <a:latin typeface="Aptos Display" panose="020B0004020202020204" pitchFamily="34" charset="0"/>
              </a:rPr>
              <a:t> that receives data (input), processes it according to a set of instructions (processing), produces information (output), and stores it for future use (storage).</a:t>
            </a:r>
          </a:p>
          <a:p>
            <a:pPr>
              <a:lnSpc>
                <a:spcPct val="150000"/>
              </a:lnSpc>
              <a:buNone/>
            </a:pPr>
            <a:r>
              <a:rPr lang="en-GB" sz="2800" b="1" dirty="0">
                <a:latin typeface="Aptos Display" panose="020B0004020202020204" pitchFamily="34" charset="0"/>
              </a:rPr>
              <a:t>Basic Definition: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>
                <a:latin typeface="Aptos Display" panose="020B0004020202020204" pitchFamily="34" charset="0"/>
              </a:rPr>
              <a:t>A computer is an electronic machine that accepts data as input, processes it, and produces useful information as output.</a:t>
            </a:r>
          </a:p>
        </p:txBody>
      </p:sp>
    </p:spTree>
    <p:extLst>
      <p:ext uri="{BB962C8B-B14F-4D97-AF65-F5344CB8AC3E}">
        <p14:creationId xmlns:p14="http://schemas.microsoft.com/office/powerpoint/2010/main" val="4071391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C8902F-122F-83E8-E983-65DE947AD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88752"/>
              </p:ext>
            </p:extLst>
          </p:nvPr>
        </p:nvGraphicFramePr>
        <p:xfrm>
          <a:off x="475488" y="749808"/>
          <a:ext cx="10802112" cy="5606128"/>
        </p:xfrm>
        <a:graphic>
          <a:graphicData uri="http://schemas.openxmlformats.org/drawingml/2006/table">
            <a:tbl>
              <a:tblPr/>
              <a:tblGrid>
                <a:gridCol w="3600704">
                  <a:extLst>
                    <a:ext uri="{9D8B030D-6E8A-4147-A177-3AD203B41FA5}">
                      <a16:colId xmlns:a16="http://schemas.microsoft.com/office/drawing/2014/main" val="300376753"/>
                    </a:ext>
                  </a:extLst>
                </a:gridCol>
                <a:gridCol w="3600704">
                  <a:extLst>
                    <a:ext uri="{9D8B030D-6E8A-4147-A177-3AD203B41FA5}">
                      <a16:colId xmlns:a16="http://schemas.microsoft.com/office/drawing/2014/main" val="2564835770"/>
                    </a:ext>
                  </a:extLst>
                </a:gridCol>
                <a:gridCol w="3600704">
                  <a:extLst>
                    <a:ext uri="{9D8B030D-6E8A-4147-A177-3AD203B41FA5}">
                      <a16:colId xmlns:a16="http://schemas.microsoft.com/office/drawing/2014/main" val="1535809202"/>
                    </a:ext>
                  </a:extLst>
                </a:gridCol>
              </a:tblGrid>
              <a:tr h="675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567775"/>
                  </a:ext>
                </a:extLst>
              </a:tr>
              <a:tr h="1232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Input</a:t>
                      </a:r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Receiving data and 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Keyboard, 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560017"/>
                  </a:ext>
                </a:extLst>
              </a:tr>
              <a:tr h="1232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Processing</a:t>
                      </a:r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/>
                        <a:t>Performing operations on the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CPU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844367"/>
                  </a:ext>
                </a:extLst>
              </a:tr>
              <a:tr h="1232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Output</a:t>
                      </a:r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/>
                        <a:t>Displaying the result of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Monitor, Printer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29923"/>
                  </a:ext>
                </a:extLst>
              </a:tr>
              <a:tr h="1232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Storage</a:t>
                      </a:r>
                      <a:endParaRPr lang="en-US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Saving data and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Hard disk, Flash drive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893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04DB581-469A-617D-845D-B22F77E75571}"/>
              </a:ext>
            </a:extLst>
          </p:cNvPr>
          <p:cNvSpPr txBox="1"/>
          <p:nvPr/>
        </p:nvSpPr>
        <p:spPr>
          <a:xfrm>
            <a:off x="2606040" y="129540"/>
            <a:ext cx="5013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The Basic Functions of a Computer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9536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330984-8B24-4FB3-8762-AF52F6D2EB10}"/>
              </a:ext>
            </a:extLst>
          </p:cNvPr>
          <p:cNvSpPr txBox="1"/>
          <p:nvPr/>
        </p:nvSpPr>
        <p:spPr>
          <a:xfrm>
            <a:off x="2580894" y="153662"/>
            <a:ext cx="28049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ptos Display" panose="020B0004020202020204" pitchFamily="34" charset="0"/>
              </a:rPr>
              <a:t>📊 </a:t>
            </a:r>
            <a:r>
              <a:rPr lang="en-US" sz="2800" b="1" dirty="0">
                <a:latin typeface="Aptos Display" panose="020B0004020202020204" pitchFamily="34" charset="0"/>
              </a:rPr>
              <a:t>Diagram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8BBDA-CDA7-679C-364B-88594C01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94" y="1406144"/>
            <a:ext cx="66294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021B37-9962-1B1A-AF0D-20422382C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914793"/>
              </p:ext>
            </p:extLst>
          </p:nvPr>
        </p:nvGraphicFramePr>
        <p:xfrm>
          <a:off x="667512" y="1856232"/>
          <a:ext cx="11064240" cy="4933958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1299495936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57737574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1779074838"/>
                    </a:ext>
                  </a:extLst>
                </a:gridCol>
              </a:tblGrid>
              <a:tr h="531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341577"/>
                  </a:ext>
                </a:extLst>
              </a:tr>
              <a:tr h="1098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Supercomputers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Fastest and most powerful; used for complex computations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NASA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504038"/>
                  </a:ext>
                </a:extLst>
              </a:tr>
              <a:tr h="9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Mainframe Computers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Used in large organizations for bulk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Banks, Airlines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381257"/>
                  </a:ext>
                </a:extLst>
              </a:tr>
              <a:tr h="92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Minicomputers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Mid-range computers for small organizations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Industrial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267741"/>
                  </a:ext>
                </a:extLst>
              </a:tr>
              <a:tr h="760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Microcomputers (PCs)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Personal use, general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Laptops, Desktops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233457"/>
                  </a:ext>
                </a:extLst>
              </a:tr>
              <a:tr h="531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Embedded Systems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Built into other devices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ATMs, Cars, Smart TVs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597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E865A36-77A7-AD3E-CFB1-7C00AEA0CD3F}"/>
              </a:ext>
            </a:extLst>
          </p:cNvPr>
          <p:cNvSpPr txBox="1"/>
          <p:nvPr/>
        </p:nvSpPr>
        <p:spPr>
          <a:xfrm>
            <a:off x="804672" y="521208"/>
            <a:ext cx="10442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2️⃣ Types of Computers</a:t>
            </a:r>
          </a:p>
          <a:p>
            <a:r>
              <a:rPr lang="en-GB" sz="2400" dirty="0"/>
              <a:t>Computers can be classified by </a:t>
            </a:r>
            <a:r>
              <a:rPr lang="en-GB" sz="2400" b="1" dirty="0"/>
              <a:t>size</a:t>
            </a:r>
            <a:r>
              <a:rPr lang="en-GB" sz="2400" dirty="0"/>
              <a:t>, </a:t>
            </a:r>
            <a:r>
              <a:rPr lang="en-GB" sz="2400" b="1" dirty="0"/>
              <a:t>purpose</a:t>
            </a:r>
            <a:r>
              <a:rPr lang="en-GB" sz="2400" dirty="0"/>
              <a:t>, or </a:t>
            </a:r>
            <a:r>
              <a:rPr lang="en-GB" sz="2400" b="1" dirty="0"/>
              <a:t>data processing method</a:t>
            </a:r>
            <a:r>
              <a:rPr lang="en-GB" sz="2400" dirty="0"/>
              <a:t>.</a:t>
            </a:r>
          </a:p>
          <a:p>
            <a:r>
              <a:rPr lang="en-GB" sz="2400" b="1" dirty="0"/>
              <a:t>(A) By Size/Performance</a:t>
            </a:r>
          </a:p>
        </p:txBody>
      </p:sp>
    </p:spTree>
    <p:extLst>
      <p:ext uri="{BB962C8B-B14F-4D97-AF65-F5344CB8AC3E}">
        <p14:creationId xmlns:p14="http://schemas.microsoft.com/office/powerpoint/2010/main" val="247511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7ED09-12C8-A10C-20CF-63D1AFAE5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842" y="888421"/>
            <a:ext cx="10162315" cy="508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17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9CF66F-7DF9-448D-CDB5-AC4005AC8BDA}"/>
              </a:ext>
            </a:extLst>
          </p:cNvPr>
          <p:cNvSpPr txBox="1"/>
          <p:nvPr/>
        </p:nvSpPr>
        <p:spPr>
          <a:xfrm>
            <a:off x="448056" y="113068"/>
            <a:ext cx="11743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Aptos Display" panose="020B0004020202020204" pitchFamily="34" charset="0"/>
              </a:rPr>
              <a:t>(B) By Purpose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Aptos Display" panose="020B0004020202020204" pitchFamily="34" charset="0"/>
              </a:rPr>
              <a:t>General Purpose Computers</a:t>
            </a:r>
            <a:r>
              <a:rPr lang="en-GB" sz="2400" dirty="0">
                <a:latin typeface="Aptos Display" panose="020B0004020202020204" pitchFamily="34" charset="0"/>
              </a:rPr>
              <a:t> – Handle various tasks (e.g., Word processing, gaming).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Aptos Display" panose="020B0004020202020204" pitchFamily="34" charset="0"/>
              </a:rPr>
              <a:t>Special Purpose Computers</a:t>
            </a:r>
            <a:r>
              <a:rPr lang="en-GB" sz="2400" dirty="0">
                <a:latin typeface="Aptos Display" panose="020B0004020202020204" pitchFamily="34" charset="0"/>
              </a:rPr>
              <a:t> – Designed for one specific job (e.g., ATM, car control unit).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82E8E-10A2-907D-7533-E2D56A59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43" y="1783080"/>
            <a:ext cx="4169781" cy="3647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61F756-145A-08E3-833D-E3769E3F3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528" y="1783080"/>
            <a:ext cx="5013960" cy="376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92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4E2B89-B672-5975-AB95-2CDEBAC41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882487"/>
              </p:ext>
            </p:extLst>
          </p:nvPr>
        </p:nvGraphicFramePr>
        <p:xfrm>
          <a:off x="246888" y="1161288"/>
          <a:ext cx="11594592" cy="5495544"/>
        </p:xfrm>
        <a:graphic>
          <a:graphicData uri="http://schemas.openxmlformats.org/drawingml/2006/table">
            <a:tbl>
              <a:tblPr/>
              <a:tblGrid>
                <a:gridCol w="5797296">
                  <a:extLst>
                    <a:ext uri="{9D8B030D-6E8A-4147-A177-3AD203B41FA5}">
                      <a16:colId xmlns:a16="http://schemas.microsoft.com/office/drawing/2014/main" val="4063368476"/>
                    </a:ext>
                  </a:extLst>
                </a:gridCol>
                <a:gridCol w="5797296">
                  <a:extLst>
                    <a:ext uri="{9D8B030D-6E8A-4147-A177-3AD203B41FA5}">
                      <a16:colId xmlns:a16="http://schemas.microsoft.com/office/drawing/2014/main" val="1663217644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Characteristic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03905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Speed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Performs millions of operations per second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625007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Accuracy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Very precise if properly programmed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98371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Automation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Can perform tasks automatically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482115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Storage Capacity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Stores vast amounts of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560196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Versatility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Can perform different types of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130179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Diligence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Never gets tired or bored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253227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Connectivity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Connects with other computers and devices easily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8322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8A4F20D-64F5-B67E-5474-568664C65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48" y="601617"/>
            <a:ext cx="5239512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3️⃣ Characteristics of Computers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354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A4F7E4-2922-7BC8-5B8D-A79FACB50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398716"/>
              </p:ext>
            </p:extLst>
          </p:nvPr>
        </p:nvGraphicFramePr>
        <p:xfrm>
          <a:off x="381000" y="1517904"/>
          <a:ext cx="11405616" cy="4498168"/>
        </p:xfrm>
        <a:graphic>
          <a:graphicData uri="http://schemas.openxmlformats.org/drawingml/2006/table">
            <a:tbl>
              <a:tblPr/>
              <a:tblGrid>
                <a:gridCol w="2723091">
                  <a:extLst>
                    <a:ext uri="{9D8B030D-6E8A-4147-A177-3AD203B41FA5}">
                      <a16:colId xmlns:a16="http://schemas.microsoft.com/office/drawing/2014/main" val="3457456235"/>
                    </a:ext>
                  </a:extLst>
                </a:gridCol>
                <a:gridCol w="2894175">
                  <a:extLst>
                    <a:ext uri="{9D8B030D-6E8A-4147-A177-3AD203B41FA5}">
                      <a16:colId xmlns:a16="http://schemas.microsoft.com/office/drawing/2014/main" val="2856894140"/>
                    </a:ext>
                  </a:extLst>
                </a:gridCol>
                <a:gridCol w="2894175">
                  <a:extLst>
                    <a:ext uri="{9D8B030D-6E8A-4147-A177-3AD203B41FA5}">
                      <a16:colId xmlns:a16="http://schemas.microsoft.com/office/drawing/2014/main" val="4084196970"/>
                    </a:ext>
                  </a:extLst>
                </a:gridCol>
                <a:gridCol w="2894175">
                  <a:extLst>
                    <a:ext uri="{9D8B030D-6E8A-4147-A177-3AD203B41FA5}">
                      <a16:colId xmlns:a16="http://schemas.microsoft.com/office/drawing/2014/main" val="2748114248"/>
                    </a:ext>
                  </a:extLst>
                </a:gridCol>
              </a:tblGrid>
              <a:tr h="632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Period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Technology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459135"/>
                  </a:ext>
                </a:extLst>
              </a:tr>
              <a:tr h="632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1st Generation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1940–1956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Vacuum Tubes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ENIAC, UNIVAC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733028"/>
                  </a:ext>
                </a:extLst>
              </a:tr>
              <a:tr h="632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2nd Generation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1956–1963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Transistors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IBM 7094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486618"/>
                  </a:ext>
                </a:extLst>
              </a:tr>
              <a:tr h="861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3rd Generation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1964–1971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Integrated Circuits (ICs)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IBM 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16393"/>
                  </a:ext>
                </a:extLst>
              </a:tr>
              <a:tr h="632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4th Generation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1971–Present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Microprocessors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Personal Computers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152804"/>
                  </a:ext>
                </a:extLst>
              </a:tr>
              <a:tr h="1106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5th Generation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Present and Future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Artificial Intelligence, Quantum Computing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AI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68478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9FC3BDA-EC6B-335E-3E6A-211089770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24" y="398443"/>
            <a:ext cx="113751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4️⃣ Overview of Computer Generations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Computers have evolved over time in terms of 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technology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speed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and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B3AFB8-A290-66F0-A159-66B25D4A8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366035"/>
            <a:ext cx="107137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📘 </a:t>
            </a:r>
            <a:r>
              <a:rPr lang="en-US" altLang="en-US" sz="2000" b="1" dirty="0">
                <a:latin typeface="Arial" panose="020B0604020202020204" pitchFamily="34" charset="0"/>
              </a:rPr>
              <a:t>Note:</a:t>
            </a:r>
            <a:r>
              <a:rPr lang="en-US" altLang="en-US" sz="2000" dirty="0">
                <a:latin typeface="Arial" panose="020B0604020202020204" pitchFamily="34" charset="0"/>
              </a:rPr>
              <a:t> Each generation brought smaller, faster, and more reliable computers.</a:t>
            </a:r>
          </a:p>
        </p:txBody>
      </p:sp>
    </p:spTree>
    <p:extLst>
      <p:ext uri="{BB962C8B-B14F-4D97-AF65-F5344CB8AC3E}">
        <p14:creationId xmlns:p14="http://schemas.microsoft.com/office/powerpoint/2010/main" val="970170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6B6BA-F38B-FE3B-077C-EF0A9DB1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70" y="265979"/>
            <a:ext cx="10797460" cy="632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15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CEF50C-EF76-1BD8-82EC-12DDB713F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910496"/>
              </p:ext>
            </p:extLst>
          </p:nvPr>
        </p:nvGraphicFramePr>
        <p:xfrm>
          <a:off x="466344" y="1517904"/>
          <a:ext cx="11365992" cy="4501464"/>
        </p:xfrm>
        <a:graphic>
          <a:graphicData uri="http://schemas.openxmlformats.org/drawingml/2006/table">
            <a:tbl>
              <a:tblPr/>
              <a:tblGrid>
                <a:gridCol w="3788664">
                  <a:extLst>
                    <a:ext uri="{9D8B030D-6E8A-4147-A177-3AD203B41FA5}">
                      <a16:colId xmlns:a16="http://schemas.microsoft.com/office/drawing/2014/main" val="3389068876"/>
                    </a:ext>
                  </a:extLst>
                </a:gridCol>
                <a:gridCol w="3788664">
                  <a:extLst>
                    <a:ext uri="{9D8B030D-6E8A-4147-A177-3AD203B41FA5}">
                      <a16:colId xmlns:a16="http://schemas.microsoft.com/office/drawing/2014/main" val="3129259378"/>
                    </a:ext>
                  </a:extLst>
                </a:gridCol>
                <a:gridCol w="3788664">
                  <a:extLst>
                    <a:ext uri="{9D8B030D-6E8A-4147-A177-3AD203B41FA5}">
                      <a16:colId xmlns:a16="http://schemas.microsoft.com/office/drawing/2014/main" val="2186155556"/>
                    </a:ext>
                  </a:extLst>
                </a:gridCol>
              </a:tblGrid>
              <a:tr h="720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031528"/>
                  </a:ext>
                </a:extLst>
              </a:tr>
              <a:tr h="1260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Hardware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The </a:t>
                      </a:r>
                      <a:r>
                        <a:rPr lang="en-GB" sz="2400" b="1"/>
                        <a:t>physical parts</a:t>
                      </a:r>
                      <a:r>
                        <a:rPr lang="en-GB" sz="2400"/>
                        <a:t> of a computer that you can touch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CPU, Monitor, 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78419"/>
                  </a:ext>
                </a:extLst>
              </a:tr>
              <a:tr h="1260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Software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The </a:t>
                      </a:r>
                      <a:r>
                        <a:rPr lang="en-GB" sz="2400" b="1"/>
                        <a:t>set of instructions</a:t>
                      </a:r>
                      <a:r>
                        <a:rPr lang="en-GB" sz="2400"/>
                        <a:t> that tell the hardware what to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Windows, MS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410604"/>
                  </a:ext>
                </a:extLst>
              </a:tr>
              <a:tr h="1260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Firmware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Software that is </a:t>
                      </a:r>
                      <a:r>
                        <a:rPr lang="en-GB" sz="2400" b="1"/>
                        <a:t>embedded into hardware</a:t>
                      </a:r>
                      <a:r>
                        <a:rPr lang="en-GB" sz="2400"/>
                        <a:t> and controls its functions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BIOS, router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59888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5EE8869-EFF7-5498-AC6F-393880625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320" y="379131"/>
            <a:ext cx="7790688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5️⃣ Hardware vs Software vs Firmware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5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B3A650-440B-4C60-5F2B-625A8E3B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956" y="905256"/>
            <a:ext cx="268795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45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E644-C084-A9F6-8FFF-08FFF538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785645"/>
            <a:ext cx="10364451" cy="1596177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Aptos" panose="020B0004020202020204" pitchFamily="34" charset="0"/>
              </a:rPr>
              <a:t>END OF WEEK ONE</a:t>
            </a:r>
          </a:p>
        </p:txBody>
      </p:sp>
    </p:spTree>
    <p:extLst>
      <p:ext uri="{BB962C8B-B14F-4D97-AF65-F5344CB8AC3E}">
        <p14:creationId xmlns:p14="http://schemas.microsoft.com/office/powerpoint/2010/main" val="386688188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104</TotalTime>
  <Words>526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Agency FB</vt:lpstr>
      <vt:lpstr>Aptos</vt:lpstr>
      <vt:lpstr>Aptos Display</vt:lpstr>
      <vt:lpstr>Arial</vt:lpstr>
      <vt:lpstr>Tw Cen MT</vt:lpstr>
      <vt:lpstr>Droplet</vt:lpstr>
      <vt:lpstr>MODULE : COMPUTER FUNDAMENTALS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WEEK 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perfect hit</dc:creator>
  <cp:lastModifiedBy>perfect hit</cp:lastModifiedBy>
  <cp:revision>3</cp:revision>
  <dcterms:created xsi:type="dcterms:W3CDTF">2025-10-21T13:38:53Z</dcterms:created>
  <dcterms:modified xsi:type="dcterms:W3CDTF">2025-10-22T15:28:08Z</dcterms:modified>
</cp:coreProperties>
</file>